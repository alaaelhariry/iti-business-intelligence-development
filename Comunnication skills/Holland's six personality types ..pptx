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elegraf Heavy" charset="1" panose="00000A00000000000000"/>
      <p:regular r:id="rId17"/>
    </p:embeddedFont>
    <p:embeddedFont>
      <p:font typeface="DM Sans Bold" charset="1" panose="00000000000000000000"/>
      <p:regular r:id="rId18"/>
    </p:embeddedFont>
    <p:embeddedFont>
      <p:font typeface="DM Sans" charset="1" panose="00000000000000000000"/>
      <p:regular r:id="rId19"/>
    </p:embeddedFont>
    <p:embeddedFont>
      <p:font typeface="Telegraf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20.png" Type="http://schemas.openxmlformats.org/officeDocument/2006/relationships/image"/><Relationship Id="rId13" Target="../media/image2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Relationship Id="rId8" Target="../media/image44.png" Type="http://schemas.openxmlformats.org/officeDocument/2006/relationships/image"/><Relationship Id="rId9" Target="../media/image4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0954" y="618104"/>
            <a:ext cx="17166093" cy="9050793"/>
            <a:chOff x="0" y="0"/>
            <a:chExt cx="22888123" cy="120677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67723" cy="12067723"/>
            </a:xfrm>
            <a:custGeom>
              <a:avLst/>
              <a:gdLst/>
              <a:ahLst/>
              <a:cxnLst/>
              <a:rect r="r" b="b" t="t" l="l"/>
              <a:pathLst>
                <a:path h="12067723" w="12067723">
                  <a:moveTo>
                    <a:pt x="0" y="0"/>
                  </a:moveTo>
                  <a:lnTo>
                    <a:pt x="12067723" y="0"/>
                  </a:lnTo>
                  <a:lnTo>
                    <a:pt x="12067723" y="12067723"/>
                  </a:lnTo>
                  <a:lnTo>
                    <a:pt x="0" y="12067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0820400" y="0"/>
              <a:ext cx="12067723" cy="12067723"/>
            </a:xfrm>
            <a:custGeom>
              <a:avLst/>
              <a:gdLst/>
              <a:ahLst/>
              <a:cxnLst/>
              <a:rect r="r" b="b" t="t" l="l"/>
              <a:pathLst>
                <a:path h="12067723" w="12067723">
                  <a:moveTo>
                    <a:pt x="0" y="0"/>
                  </a:moveTo>
                  <a:lnTo>
                    <a:pt x="12067723" y="0"/>
                  </a:lnTo>
                  <a:lnTo>
                    <a:pt x="12067723" y="12067723"/>
                  </a:lnTo>
                  <a:lnTo>
                    <a:pt x="0" y="12067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798964" y="1028700"/>
            <a:ext cx="8460336" cy="8229600"/>
          </a:xfrm>
          <a:custGeom>
            <a:avLst/>
            <a:gdLst/>
            <a:ahLst/>
            <a:cxnLst/>
            <a:rect r="r" b="b" t="t" l="l"/>
            <a:pathLst>
              <a:path h="8229600" w="8460336">
                <a:moveTo>
                  <a:pt x="0" y="0"/>
                </a:moveTo>
                <a:lnTo>
                  <a:pt x="8460336" y="0"/>
                </a:lnTo>
                <a:lnTo>
                  <a:pt x="846033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1018139" y="6769176"/>
            <a:ext cx="8238010" cy="1562657"/>
            <a:chOff x="0" y="0"/>
            <a:chExt cx="2169682" cy="4115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69682" cy="411564"/>
            </a:xfrm>
            <a:custGeom>
              <a:avLst/>
              <a:gdLst/>
              <a:ahLst/>
              <a:cxnLst/>
              <a:rect r="r" b="b" t="t" l="l"/>
              <a:pathLst>
                <a:path h="411564" w="2169682">
                  <a:moveTo>
                    <a:pt x="93978" y="0"/>
                  </a:moveTo>
                  <a:lnTo>
                    <a:pt x="2075704" y="0"/>
                  </a:lnTo>
                  <a:cubicBezTo>
                    <a:pt x="2127606" y="0"/>
                    <a:pt x="2169682" y="42075"/>
                    <a:pt x="2169682" y="93978"/>
                  </a:cubicBezTo>
                  <a:lnTo>
                    <a:pt x="2169682" y="317586"/>
                  </a:lnTo>
                  <a:cubicBezTo>
                    <a:pt x="2169682" y="369489"/>
                    <a:pt x="2127606" y="411564"/>
                    <a:pt x="2075704" y="411564"/>
                  </a:cubicBezTo>
                  <a:lnTo>
                    <a:pt x="93978" y="411564"/>
                  </a:lnTo>
                  <a:cubicBezTo>
                    <a:pt x="42075" y="411564"/>
                    <a:pt x="0" y="369489"/>
                    <a:pt x="0" y="317586"/>
                  </a:cubicBezTo>
                  <a:lnTo>
                    <a:pt x="0" y="93978"/>
                  </a:lnTo>
                  <a:cubicBezTo>
                    <a:pt x="0" y="42075"/>
                    <a:pt x="42075" y="0"/>
                    <a:pt x="93978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1C174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69682" cy="449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true" rot="0">
            <a:off x="7434683" y="5744360"/>
            <a:ext cx="4158742" cy="5747005"/>
          </a:xfrm>
          <a:custGeom>
            <a:avLst/>
            <a:gdLst/>
            <a:ahLst/>
            <a:cxnLst/>
            <a:rect r="r" b="b" t="t" l="l"/>
            <a:pathLst>
              <a:path h="5747005" w="4158742">
                <a:moveTo>
                  <a:pt x="4158742" y="5747005"/>
                </a:moveTo>
                <a:lnTo>
                  <a:pt x="0" y="5747005"/>
                </a:lnTo>
                <a:lnTo>
                  <a:pt x="0" y="0"/>
                </a:lnTo>
                <a:lnTo>
                  <a:pt x="4158742" y="0"/>
                </a:lnTo>
                <a:lnTo>
                  <a:pt x="4158742" y="5747005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2291" y="1420246"/>
            <a:ext cx="9809704" cy="485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49"/>
              </a:lnSpc>
            </a:pPr>
            <a:r>
              <a:rPr lang="en-US" b="true" sz="8499">
                <a:solidFill>
                  <a:srgbClr val="000000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HOLLAND'S SIX PERSONALITY TYPES </a:t>
            </a:r>
          </a:p>
          <a:p>
            <a:pPr algn="ctr">
              <a:lnSpc>
                <a:spcPts val="9349"/>
              </a:lnSpc>
            </a:pPr>
            <a:r>
              <a:rPr lang="en-US" b="true" sz="8499">
                <a:solidFill>
                  <a:srgbClr val="000000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(RIASEC MODEL)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4953" y="6988530"/>
            <a:ext cx="7684381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Presentation by Nouran El-Bahaie, Alaa El-Hariry, Raghda El-Said, Nour El-Shafey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180279" y="618104"/>
            <a:ext cx="3927443" cy="821193"/>
          </a:xfrm>
          <a:custGeom>
            <a:avLst/>
            <a:gdLst/>
            <a:ahLst/>
            <a:cxnLst/>
            <a:rect r="r" b="b" t="t" l="l"/>
            <a:pathLst>
              <a:path h="821193" w="3927443">
                <a:moveTo>
                  <a:pt x="0" y="0"/>
                </a:moveTo>
                <a:lnTo>
                  <a:pt x="3927442" y="0"/>
                </a:lnTo>
                <a:lnTo>
                  <a:pt x="3927442" y="821192"/>
                </a:lnTo>
                <a:lnTo>
                  <a:pt x="0" y="8211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0954" y="618104"/>
            <a:ext cx="17166093" cy="9050793"/>
            <a:chOff x="0" y="0"/>
            <a:chExt cx="22888123" cy="120677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67723" cy="12067723"/>
            </a:xfrm>
            <a:custGeom>
              <a:avLst/>
              <a:gdLst/>
              <a:ahLst/>
              <a:cxnLst/>
              <a:rect r="r" b="b" t="t" l="l"/>
              <a:pathLst>
                <a:path h="12067723" w="12067723">
                  <a:moveTo>
                    <a:pt x="0" y="0"/>
                  </a:moveTo>
                  <a:lnTo>
                    <a:pt x="12067723" y="0"/>
                  </a:lnTo>
                  <a:lnTo>
                    <a:pt x="12067723" y="12067723"/>
                  </a:lnTo>
                  <a:lnTo>
                    <a:pt x="0" y="12067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0820400" y="0"/>
              <a:ext cx="12067723" cy="12067723"/>
            </a:xfrm>
            <a:custGeom>
              <a:avLst/>
              <a:gdLst/>
              <a:ahLst/>
              <a:cxnLst/>
              <a:rect r="r" b="b" t="t" l="l"/>
              <a:pathLst>
                <a:path h="12067723" w="12067723">
                  <a:moveTo>
                    <a:pt x="0" y="0"/>
                  </a:moveTo>
                  <a:lnTo>
                    <a:pt x="12067723" y="0"/>
                  </a:lnTo>
                  <a:lnTo>
                    <a:pt x="12067723" y="12067723"/>
                  </a:lnTo>
                  <a:lnTo>
                    <a:pt x="0" y="12067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828541" y="3333776"/>
            <a:ext cx="10359570" cy="6335120"/>
            <a:chOff x="0" y="0"/>
            <a:chExt cx="2728446" cy="16685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28446" cy="1668509"/>
            </a:xfrm>
            <a:custGeom>
              <a:avLst/>
              <a:gdLst/>
              <a:ahLst/>
              <a:cxnLst/>
              <a:rect r="r" b="b" t="t" l="l"/>
              <a:pathLst>
                <a:path h="1668509" w="2728446">
                  <a:moveTo>
                    <a:pt x="46334" y="0"/>
                  </a:moveTo>
                  <a:lnTo>
                    <a:pt x="2682113" y="0"/>
                  </a:lnTo>
                  <a:cubicBezTo>
                    <a:pt x="2694401" y="0"/>
                    <a:pt x="2706186" y="4882"/>
                    <a:pt x="2714876" y="13571"/>
                  </a:cubicBezTo>
                  <a:cubicBezTo>
                    <a:pt x="2723565" y="22260"/>
                    <a:pt x="2728446" y="34045"/>
                    <a:pt x="2728446" y="46334"/>
                  </a:cubicBezTo>
                  <a:lnTo>
                    <a:pt x="2728446" y="1622175"/>
                  </a:lnTo>
                  <a:cubicBezTo>
                    <a:pt x="2728446" y="1634464"/>
                    <a:pt x="2723565" y="1646249"/>
                    <a:pt x="2714876" y="1654938"/>
                  </a:cubicBezTo>
                  <a:cubicBezTo>
                    <a:pt x="2706186" y="1663627"/>
                    <a:pt x="2694401" y="1668509"/>
                    <a:pt x="2682113" y="1668509"/>
                  </a:cubicBezTo>
                  <a:lnTo>
                    <a:pt x="46334" y="1668509"/>
                  </a:lnTo>
                  <a:cubicBezTo>
                    <a:pt x="34045" y="1668509"/>
                    <a:pt x="22260" y="1663627"/>
                    <a:pt x="13571" y="1654938"/>
                  </a:cubicBezTo>
                  <a:cubicBezTo>
                    <a:pt x="4882" y="1646249"/>
                    <a:pt x="0" y="1634464"/>
                    <a:pt x="0" y="1622175"/>
                  </a:cubicBezTo>
                  <a:lnTo>
                    <a:pt x="0" y="46334"/>
                  </a:lnTo>
                  <a:cubicBezTo>
                    <a:pt x="0" y="34045"/>
                    <a:pt x="4882" y="22260"/>
                    <a:pt x="13571" y="13571"/>
                  </a:cubicBezTo>
                  <a:cubicBezTo>
                    <a:pt x="22260" y="4882"/>
                    <a:pt x="34045" y="0"/>
                    <a:pt x="4633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1C174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28446" cy="1706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0" y="1028700"/>
            <a:ext cx="5828541" cy="11657083"/>
          </a:xfrm>
          <a:custGeom>
            <a:avLst/>
            <a:gdLst/>
            <a:ahLst/>
            <a:cxnLst/>
            <a:rect r="r" b="b" t="t" l="l"/>
            <a:pathLst>
              <a:path h="11657083" w="5828541">
                <a:moveTo>
                  <a:pt x="5828541" y="0"/>
                </a:moveTo>
                <a:lnTo>
                  <a:pt x="0" y="0"/>
                </a:lnTo>
                <a:lnTo>
                  <a:pt x="0" y="11657083"/>
                </a:lnTo>
                <a:lnTo>
                  <a:pt x="5828541" y="11657083"/>
                </a:lnTo>
                <a:lnTo>
                  <a:pt x="582854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92924" y="933450"/>
            <a:ext cx="10830805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8499">
                <a:solidFill>
                  <a:srgbClr val="000000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INTRODUCTION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34940" y="3962319"/>
            <a:ext cx="9346772" cy="5020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</a:pPr>
            <a:r>
              <a:rPr lang="en-US" sz="257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Jo</a:t>
            </a:r>
            <a:r>
              <a:rPr lang="en-US" sz="257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hn L. Holland, Ph.D., professor emeritus at Johns Hopkins University, is a psychologist who devoted his professional life to researching issues related to career choice and satisfaction. He developed a well-known theory and designed several assessments and supporting materials to assist people in making effective career choices.</a:t>
            </a:r>
          </a:p>
          <a:p>
            <a:pPr algn="l">
              <a:lnSpc>
                <a:spcPts val="3608"/>
              </a:lnSpc>
            </a:pPr>
          </a:p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sz="257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Holland proposed personality personality job fit theory which identifies six personality types and proposes that the fit between personality type and occupational environment determines satisfaction 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0954" y="618104"/>
            <a:ext cx="17166093" cy="9050793"/>
            <a:chOff x="0" y="0"/>
            <a:chExt cx="22888123" cy="120677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67723" cy="12067723"/>
            </a:xfrm>
            <a:custGeom>
              <a:avLst/>
              <a:gdLst/>
              <a:ahLst/>
              <a:cxnLst/>
              <a:rect r="r" b="b" t="t" l="l"/>
              <a:pathLst>
                <a:path h="12067723" w="12067723">
                  <a:moveTo>
                    <a:pt x="0" y="0"/>
                  </a:moveTo>
                  <a:lnTo>
                    <a:pt x="12067723" y="0"/>
                  </a:lnTo>
                  <a:lnTo>
                    <a:pt x="12067723" y="12067723"/>
                  </a:lnTo>
                  <a:lnTo>
                    <a:pt x="0" y="12067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0820400" y="0"/>
              <a:ext cx="12067723" cy="12067723"/>
            </a:xfrm>
            <a:custGeom>
              <a:avLst/>
              <a:gdLst/>
              <a:ahLst/>
              <a:cxnLst/>
              <a:rect r="r" b="b" t="t" l="l"/>
              <a:pathLst>
                <a:path h="12067723" w="12067723">
                  <a:moveTo>
                    <a:pt x="0" y="0"/>
                  </a:moveTo>
                  <a:lnTo>
                    <a:pt x="12067723" y="0"/>
                  </a:lnTo>
                  <a:lnTo>
                    <a:pt x="12067723" y="12067723"/>
                  </a:lnTo>
                  <a:lnTo>
                    <a:pt x="0" y="12067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35038" y="2540385"/>
            <a:ext cx="8115300" cy="5649034"/>
            <a:chOff x="0" y="0"/>
            <a:chExt cx="2137363" cy="14878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7363" cy="1487811"/>
            </a:xfrm>
            <a:custGeom>
              <a:avLst/>
              <a:gdLst/>
              <a:ahLst/>
              <a:cxnLst/>
              <a:rect r="r" b="b" t="t" l="l"/>
              <a:pathLst>
                <a:path h="1487811" w="2137363">
                  <a:moveTo>
                    <a:pt x="59147" y="0"/>
                  </a:moveTo>
                  <a:lnTo>
                    <a:pt x="2078216" y="0"/>
                  </a:lnTo>
                  <a:cubicBezTo>
                    <a:pt x="2110882" y="0"/>
                    <a:pt x="2137363" y="26481"/>
                    <a:pt x="2137363" y="59147"/>
                  </a:cubicBezTo>
                  <a:lnTo>
                    <a:pt x="2137363" y="1428664"/>
                  </a:lnTo>
                  <a:cubicBezTo>
                    <a:pt x="2137363" y="1461330"/>
                    <a:pt x="2110882" y="1487811"/>
                    <a:pt x="2078216" y="1487811"/>
                  </a:cubicBezTo>
                  <a:lnTo>
                    <a:pt x="59147" y="1487811"/>
                  </a:lnTo>
                  <a:cubicBezTo>
                    <a:pt x="26481" y="1487811"/>
                    <a:pt x="0" y="1461330"/>
                    <a:pt x="0" y="1428664"/>
                  </a:cubicBezTo>
                  <a:lnTo>
                    <a:pt x="0" y="59147"/>
                  </a:lnTo>
                  <a:cubicBezTo>
                    <a:pt x="0" y="26481"/>
                    <a:pt x="26481" y="0"/>
                    <a:pt x="591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1C174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7363" cy="1525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true" rot="0">
            <a:off x="-738157" y="-505391"/>
            <a:ext cx="5830845" cy="4357232"/>
          </a:xfrm>
          <a:custGeom>
            <a:avLst/>
            <a:gdLst/>
            <a:ahLst/>
            <a:cxnLst/>
            <a:rect r="r" b="b" t="t" l="l"/>
            <a:pathLst>
              <a:path h="4357232" w="5830845">
                <a:moveTo>
                  <a:pt x="0" y="4357232"/>
                </a:moveTo>
                <a:lnTo>
                  <a:pt x="5830845" y="4357232"/>
                </a:lnTo>
                <a:lnTo>
                  <a:pt x="5830845" y="0"/>
                </a:lnTo>
                <a:lnTo>
                  <a:pt x="0" y="0"/>
                </a:lnTo>
                <a:lnTo>
                  <a:pt x="0" y="43572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3735659">
            <a:off x="14522698" y="5946587"/>
            <a:ext cx="3873868" cy="5353335"/>
          </a:xfrm>
          <a:custGeom>
            <a:avLst/>
            <a:gdLst/>
            <a:ahLst/>
            <a:cxnLst/>
            <a:rect r="r" b="b" t="t" l="l"/>
            <a:pathLst>
              <a:path h="5353335" w="3873868">
                <a:moveTo>
                  <a:pt x="0" y="0"/>
                </a:moveTo>
                <a:lnTo>
                  <a:pt x="3873868" y="0"/>
                </a:lnTo>
                <a:lnTo>
                  <a:pt x="3873868" y="5353335"/>
                </a:lnTo>
                <a:lnTo>
                  <a:pt x="0" y="53533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671323" y="2540385"/>
            <a:ext cx="8055723" cy="5649034"/>
          </a:xfrm>
          <a:custGeom>
            <a:avLst/>
            <a:gdLst/>
            <a:ahLst/>
            <a:cxnLst/>
            <a:rect r="r" b="b" t="t" l="l"/>
            <a:pathLst>
              <a:path h="5649034" w="8055723">
                <a:moveTo>
                  <a:pt x="0" y="0"/>
                </a:moveTo>
                <a:lnTo>
                  <a:pt x="8055723" y="0"/>
                </a:lnTo>
                <a:lnTo>
                  <a:pt x="8055723" y="5649034"/>
                </a:lnTo>
                <a:lnTo>
                  <a:pt x="0" y="56490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39343" y="2931420"/>
            <a:ext cx="6906690" cy="4800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8"/>
              </a:lnSpc>
            </a:pPr>
            <a:r>
              <a:rPr lang="en-US" sz="300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six personality types are:</a:t>
            </a:r>
          </a:p>
          <a:p>
            <a:pPr algn="l" marL="648963" indent="-324482" lvl="1">
              <a:lnSpc>
                <a:spcPts val="4208"/>
              </a:lnSpc>
              <a:buFont typeface="Arial"/>
              <a:buChar char="•"/>
            </a:pPr>
            <a:r>
              <a:rPr lang="en-US" sz="300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Realistic (R)</a:t>
            </a:r>
          </a:p>
          <a:p>
            <a:pPr algn="l" marL="648963" indent="-324482" lvl="1">
              <a:lnSpc>
                <a:spcPts val="4208"/>
              </a:lnSpc>
              <a:buFont typeface="Arial"/>
              <a:buChar char="•"/>
            </a:pPr>
            <a:r>
              <a:rPr lang="en-US" sz="300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Investigative (I)</a:t>
            </a:r>
          </a:p>
          <a:p>
            <a:pPr algn="l" marL="648963" indent="-324482" lvl="1">
              <a:lnSpc>
                <a:spcPts val="4208"/>
              </a:lnSpc>
              <a:buFont typeface="Arial"/>
              <a:buChar char="•"/>
            </a:pPr>
            <a:r>
              <a:rPr lang="en-US" sz="300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Artistic (A)</a:t>
            </a:r>
          </a:p>
          <a:p>
            <a:pPr algn="l" marL="648963" indent="-324482" lvl="1">
              <a:lnSpc>
                <a:spcPts val="4208"/>
              </a:lnSpc>
              <a:buFont typeface="Arial"/>
              <a:buChar char="•"/>
            </a:pPr>
            <a:r>
              <a:rPr lang="en-US" sz="300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Social (S)</a:t>
            </a:r>
          </a:p>
          <a:p>
            <a:pPr algn="l" marL="648963" indent="-324482" lvl="1">
              <a:lnSpc>
                <a:spcPts val="4208"/>
              </a:lnSpc>
              <a:buFont typeface="Arial"/>
              <a:buChar char="•"/>
            </a:pPr>
            <a:r>
              <a:rPr lang="en-US" sz="300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Enterprising (E)</a:t>
            </a:r>
          </a:p>
          <a:p>
            <a:pPr algn="l" marL="648963" indent="-324482" lvl="1">
              <a:lnSpc>
                <a:spcPts val="4208"/>
              </a:lnSpc>
              <a:buFont typeface="Arial"/>
              <a:buChar char="•"/>
            </a:pPr>
            <a:r>
              <a:rPr lang="en-US" sz="300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Conventional (C)</a:t>
            </a:r>
          </a:p>
          <a:p>
            <a:pPr algn="l">
              <a:lnSpc>
                <a:spcPts val="4208"/>
              </a:lnSpc>
            </a:pPr>
            <a:r>
              <a:rPr lang="en-US" sz="300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This model is known as RIASEC.</a:t>
            </a:r>
          </a:p>
          <a:p>
            <a:pPr algn="l">
              <a:lnSpc>
                <a:spcPts val="4208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4227973" y="1009650"/>
            <a:ext cx="9832054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49"/>
              </a:lnSpc>
            </a:pPr>
            <a:r>
              <a:rPr lang="en-US" sz="8499" b="true">
                <a:solidFill>
                  <a:srgbClr val="000000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THE SIX TYPES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0954" y="618104"/>
            <a:ext cx="17166093" cy="9050793"/>
            <a:chOff x="0" y="0"/>
            <a:chExt cx="22888123" cy="120677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67723" cy="12067723"/>
            </a:xfrm>
            <a:custGeom>
              <a:avLst/>
              <a:gdLst/>
              <a:ahLst/>
              <a:cxnLst/>
              <a:rect r="r" b="b" t="t" l="l"/>
              <a:pathLst>
                <a:path h="12067723" w="12067723">
                  <a:moveTo>
                    <a:pt x="0" y="0"/>
                  </a:moveTo>
                  <a:lnTo>
                    <a:pt x="12067723" y="0"/>
                  </a:lnTo>
                  <a:lnTo>
                    <a:pt x="12067723" y="12067723"/>
                  </a:lnTo>
                  <a:lnTo>
                    <a:pt x="0" y="12067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0820400" y="0"/>
              <a:ext cx="12067723" cy="12067723"/>
            </a:xfrm>
            <a:custGeom>
              <a:avLst/>
              <a:gdLst/>
              <a:ahLst/>
              <a:cxnLst/>
              <a:rect r="r" b="b" t="t" l="l"/>
              <a:pathLst>
                <a:path h="12067723" w="12067723">
                  <a:moveTo>
                    <a:pt x="0" y="0"/>
                  </a:moveTo>
                  <a:lnTo>
                    <a:pt x="12067723" y="0"/>
                  </a:lnTo>
                  <a:lnTo>
                    <a:pt x="12067723" y="12067723"/>
                  </a:lnTo>
                  <a:lnTo>
                    <a:pt x="0" y="12067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3728374"/>
            <a:ext cx="9832054" cy="5529926"/>
            <a:chOff x="0" y="0"/>
            <a:chExt cx="2589512" cy="14564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512" cy="1456441"/>
            </a:xfrm>
            <a:custGeom>
              <a:avLst/>
              <a:gdLst/>
              <a:ahLst/>
              <a:cxnLst/>
              <a:rect r="r" b="b" t="t" l="l"/>
              <a:pathLst>
                <a:path h="1456441" w="2589512">
                  <a:moveTo>
                    <a:pt x="48820" y="0"/>
                  </a:moveTo>
                  <a:lnTo>
                    <a:pt x="2540692" y="0"/>
                  </a:lnTo>
                  <a:cubicBezTo>
                    <a:pt x="2567655" y="0"/>
                    <a:pt x="2589512" y="21857"/>
                    <a:pt x="2589512" y="48820"/>
                  </a:cubicBezTo>
                  <a:lnTo>
                    <a:pt x="2589512" y="1407622"/>
                  </a:lnTo>
                  <a:cubicBezTo>
                    <a:pt x="2589512" y="1434584"/>
                    <a:pt x="2567655" y="1456441"/>
                    <a:pt x="2540692" y="1456441"/>
                  </a:cubicBezTo>
                  <a:lnTo>
                    <a:pt x="48820" y="1456441"/>
                  </a:lnTo>
                  <a:cubicBezTo>
                    <a:pt x="21857" y="1456441"/>
                    <a:pt x="0" y="1434584"/>
                    <a:pt x="0" y="1407622"/>
                  </a:cubicBezTo>
                  <a:lnTo>
                    <a:pt x="0" y="48820"/>
                  </a:lnTo>
                  <a:cubicBezTo>
                    <a:pt x="0" y="21857"/>
                    <a:pt x="21857" y="0"/>
                    <a:pt x="4882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1C174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89512" cy="14945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878247">
            <a:off x="9669058" y="320368"/>
            <a:ext cx="7243467" cy="9646264"/>
          </a:xfrm>
          <a:custGeom>
            <a:avLst/>
            <a:gdLst/>
            <a:ahLst/>
            <a:cxnLst/>
            <a:rect r="r" b="b" t="t" l="l"/>
            <a:pathLst>
              <a:path h="9646264" w="7243467">
                <a:moveTo>
                  <a:pt x="0" y="0"/>
                </a:moveTo>
                <a:lnTo>
                  <a:pt x="7243467" y="0"/>
                </a:lnTo>
                <a:lnTo>
                  <a:pt x="7243467" y="9646264"/>
                </a:lnTo>
                <a:lnTo>
                  <a:pt x="0" y="96462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802391" y="-2018631"/>
            <a:ext cx="4158742" cy="5747005"/>
          </a:xfrm>
          <a:custGeom>
            <a:avLst/>
            <a:gdLst/>
            <a:ahLst/>
            <a:cxnLst/>
            <a:rect r="r" b="b" t="t" l="l"/>
            <a:pathLst>
              <a:path h="5747005" w="4158742">
                <a:moveTo>
                  <a:pt x="0" y="0"/>
                </a:moveTo>
                <a:lnTo>
                  <a:pt x="4158742" y="0"/>
                </a:lnTo>
                <a:lnTo>
                  <a:pt x="4158742" y="5747005"/>
                </a:lnTo>
                <a:lnTo>
                  <a:pt x="0" y="5747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06088" y="7200900"/>
            <a:ext cx="5506423" cy="4114800"/>
          </a:xfrm>
          <a:custGeom>
            <a:avLst/>
            <a:gdLst/>
            <a:ahLst/>
            <a:cxnLst/>
            <a:rect r="r" b="b" t="t" l="l"/>
            <a:pathLst>
              <a:path h="4114800" w="5506423">
                <a:moveTo>
                  <a:pt x="0" y="0"/>
                </a:moveTo>
                <a:lnTo>
                  <a:pt x="5506424" y="0"/>
                </a:lnTo>
                <a:lnTo>
                  <a:pt x="55064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69597" y="1906251"/>
            <a:ext cx="6773691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49"/>
              </a:lnSpc>
            </a:pPr>
            <a:r>
              <a:rPr lang="en-US" sz="8499" b="true">
                <a:solidFill>
                  <a:srgbClr val="000000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ARTISTIC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69597" y="3893375"/>
            <a:ext cx="7799030" cy="600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6"/>
              </a:lnSpc>
            </a:pPr>
            <a:r>
              <a:rPr lang="en-US" sz="300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Character: </a:t>
            </a:r>
          </a:p>
          <a:p>
            <a:pPr algn="l" marL="648663" indent="-324332" lvl="1">
              <a:lnSpc>
                <a:spcPts val="4206"/>
              </a:lnSpc>
              <a:buFont typeface="Arial"/>
              <a:buChar char="•"/>
            </a:pPr>
            <a:r>
              <a:rPr lang="en-US" sz="300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Imaginative</a:t>
            </a:r>
          </a:p>
          <a:p>
            <a:pPr algn="l" marL="648663" indent="-324332" lvl="1">
              <a:lnSpc>
                <a:spcPts val="4206"/>
              </a:lnSpc>
              <a:buFont typeface="Arial"/>
              <a:buChar char="•"/>
            </a:pPr>
            <a:r>
              <a:rPr lang="en-US" sz="300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Idealistic</a:t>
            </a:r>
          </a:p>
          <a:p>
            <a:pPr algn="l" marL="648663" indent="-324332" lvl="1">
              <a:lnSpc>
                <a:spcPts val="4206"/>
              </a:lnSpc>
              <a:buFont typeface="Arial"/>
              <a:buChar char="•"/>
            </a:pPr>
            <a:r>
              <a:rPr lang="en-US" sz="300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Disorderly</a:t>
            </a:r>
          </a:p>
          <a:p>
            <a:pPr algn="l">
              <a:lnSpc>
                <a:spcPts val="4206"/>
              </a:lnSpc>
            </a:pPr>
          </a:p>
          <a:p>
            <a:pPr algn="l">
              <a:lnSpc>
                <a:spcPts val="4206"/>
              </a:lnSpc>
            </a:pPr>
            <a:r>
              <a:rPr lang="en-US" sz="300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Prefer:  </a:t>
            </a:r>
          </a:p>
          <a:p>
            <a:pPr algn="l" marL="648663" indent="-324332" lvl="1">
              <a:lnSpc>
                <a:spcPts val="4206"/>
              </a:lnSpc>
              <a:buFont typeface="Arial"/>
              <a:buChar char="•"/>
            </a:pPr>
            <a:r>
              <a:rPr lang="en-US" sz="300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Unsystematic activities</a:t>
            </a:r>
          </a:p>
          <a:p>
            <a:pPr algn="l" marL="648663" indent="-324332" lvl="1">
              <a:lnSpc>
                <a:spcPts val="4206"/>
              </a:lnSpc>
              <a:buFont typeface="Arial"/>
              <a:buChar char="•"/>
            </a:pPr>
            <a:r>
              <a:rPr lang="en-US" sz="300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Environments that allow expression</a:t>
            </a:r>
          </a:p>
          <a:p>
            <a:pPr algn="l" marL="648663" indent="-324332" lvl="1">
              <a:lnSpc>
                <a:spcPts val="4206"/>
              </a:lnSpc>
              <a:buFont typeface="Arial"/>
              <a:buChar char="•"/>
            </a:pPr>
            <a:r>
              <a:rPr lang="en-US" sz="300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Flexibility instead of strict rules</a:t>
            </a:r>
          </a:p>
          <a:p>
            <a:pPr algn="l">
              <a:lnSpc>
                <a:spcPts val="3646"/>
              </a:lnSpc>
            </a:pPr>
          </a:p>
          <a:p>
            <a:pPr algn="l">
              <a:lnSpc>
                <a:spcPts val="2946"/>
              </a:lnSpc>
            </a:pPr>
          </a:p>
          <a:p>
            <a:pPr algn="l">
              <a:lnSpc>
                <a:spcPts val="294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0954" y="618104"/>
            <a:ext cx="17166093" cy="9050793"/>
            <a:chOff x="0" y="0"/>
            <a:chExt cx="22888123" cy="120677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67723" cy="12067723"/>
            </a:xfrm>
            <a:custGeom>
              <a:avLst/>
              <a:gdLst/>
              <a:ahLst/>
              <a:cxnLst/>
              <a:rect r="r" b="b" t="t" l="l"/>
              <a:pathLst>
                <a:path h="12067723" w="12067723">
                  <a:moveTo>
                    <a:pt x="0" y="0"/>
                  </a:moveTo>
                  <a:lnTo>
                    <a:pt x="12067723" y="0"/>
                  </a:lnTo>
                  <a:lnTo>
                    <a:pt x="12067723" y="12067723"/>
                  </a:lnTo>
                  <a:lnTo>
                    <a:pt x="0" y="12067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0820400" y="0"/>
              <a:ext cx="12067723" cy="12067723"/>
            </a:xfrm>
            <a:custGeom>
              <a:avLst/>
              <a:gdLst/>
              <a:ahLst/>
              <a:cxnLst/>
              <a:rect r="r" b="b" t="t" l="l"/>
              <a:pathLst>
                <a:path h="12067723" w="12067723">
                  <a:moveTo>
                    <a:pt x="0" y="0"/>
                  </a:moveTo>
                  <a:lnTo>
                    <a:pt x="12067723" y="0"/>
                  </a:lnTo>
                  <a:lnTo>
                    <a:pt x="12067723" y="12067723"/>
                  </a:lnTo>
                  <a:lnTo>
                    <a:pt x="0" y="12067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856537" y="3274432"/>
            <a:ext cx="11414599" cy="5649034"/>
            <a:chOff x="0" y="0"/>
            <a:chExt cx="3006314" cy="14878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06314" cy="1487811"/>
            </a:xfrm>
            <a:custGeom>
              <a:avLst/>
              <a:gdLst/>
              <a:ahLst/>
              <a:cxnLst/>
              <a:rect r="r" b="b" t="t" l="l"/>
              <a:pathLst>
                <a:path h="1487811" w="3006314">
                  <a:moveTo>
                    <a:pt x="42051" y="0"/>
                  </a:moveTo>
                  <a:lnTo>
                    <a:pt x="2964263" y="0"/>
                  </a:lnTo>
                  <a:cubicBezTo>
                    <a:pt x="2975415" y="0"/>
                    <a:pt x="2986112" y="4430"/>
                    <a:pt x="2993998" y="12317"/>
                  </a:cubicBezTo>
                  <a:cubicBezTo>
                    <a:pt x="3001884" y="20203"/>
                    <a:pt x="3006314" y="30899"/>
                    <a:pt x="3006314" y="42051"/>
                  </a:cubicBezTo>
                  <a:lnTo>
                    <a:pt x="3006314" y="1445760"/>
                  </a:lnTo>
                  <a:cubicBezTo>
                    <a:pt x="3006314" y="1456913"/>
                    <a:pt x="3001884" y="1467609"/>
                    <a:pt x="2993998" y="1475495"/>
                  </a:cubicBezTo>
                  <a:cubicBezTo>
                    <a:pt x="2986112" y="1483381"/>
                    <a:pt x="2975415" y="1487811"/>
                    <a:pt x="2964263" y="1487811"/>
                  </a:cubicBezTo>
                  <a:lnTo>
                    <a:pt x="42051" y="1487811"/>
                  </a:lnTo>
                  <a:cubicBezTo>
                    <a:pt x="18827" y="1487811"/>
                    <a:pt x="0" y="1468984"/>
                    <a:pt x="0" y="1445760"/>
                  </a:cubicBezTo>
                  <a:lnTo>
                    <a:pt x="0" y="42051"/>
                  </a:lnTo>
                  <a:cubicBezTo>
                    <a:pt x="0" y="18827"/>
                    <a:pt x="18827" y="0"/>
                    <a:pt x="42051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1C174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006314" cy="1525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true" rot="0">
            <a:off x="202800" y="-1028700"/>
            <a:ext cx="4854063" cy="3627309"/>
          </a:xfrm>
          <a:custGeom>
            <a:avLst/>
            <a:gdLst/>
            <a:ahLst/>
            <a:cxnLst/>
            <a:rect r="r" b="b" t="t" l="l"/>
            <a:pathLst>
              <a:path h="3627309" w="4854063">
                <a:moveTo>
                  <a:pt x="0" y="3627309"/>
                </a:moveTo>
                <a:lnTo>
                  <a:pt x="4854063" y="3627309"/>
                </a:lnTo>
                <a:lnTo>
                  <a:pt x="4854063" y="0"/>
                </a:lnTo>
                <a:lnTo>
                  <a:pt x="0" y="0"/>
                </a:lnTo>
                <a:lnTo>
                  <a:pt x="0" y="362730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61233" y="1009650"/>
            <a:ext cx="9832054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49"/>
              </a:lnSpc>
            </a:pPr>
            <a:r>
              <a:rPr lang="en-US" sz="8499" b="true">
                <a:solidFill>
                  <a:srgbClr val="000000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REALISTIC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67180" y="3389130"/>
            <a:ext cx="10193313" cy="586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8"/>
              </a:lnSpc>
            </a:pPr>
            <a:r>
              <a:rPr lang="en-US" sz="300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Character: </a:t>
            </a:r>
          </a:p>
          <a:p>
            <a:pPr algn="l" marL="648963" indent="-324482" lvl="1">
              <a:lnSpc>
                <a:spcPts val="4208"/>
              </a:lnSpc>
              <a:buFont typeface="Arial"/>
              <a:buChar char="•"/>
            </a:pPr>
            <a:r>
              <a:rPr lang="en-US" sz="300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Practical</a:t>
            </a:r>
          </a:p>
          <a:p>
            <a:pPr algn="l" marL="648963" indent="-324482" lvl="1">
              <a:lnSpc>
                <a:spcPts val="4208"/>
              </a:lnSpc>
              <a:buFont typeface="Arial"/>
              <a:buChar char="•"/>
            </a:pPr>
            <a:r>
              <a:rPr lang="en-US" sz="300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Down-to-earth</a:t>
            </a:r>
          </a:p>
          <a:p>
            <a:pPr algn="l" marL="648963" indent="-324482" lvl="1">
              <a:lnSpc>
                <a:spcPts val="4208"/>
              </a:lnSpc>
              <a:buFont typeface="Arial"/>
              <a:buChar char="•"/>
            </a:pPr>
            <a:r>
              <a:rPr lang="en-US" sz="300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Action-oriented</a:t>
            </a:r>
          </a:p>
          <a:p>
            <a:pPr algn="l">
              <a:lnSpc>
                <a:spcPts val="4208"/>
              </a:lnSpc>
            </a:pPr>
          </a:p>
          <a:p>
            <a:pPr algn="l">
              <a:lnSpc>
                <a:spcPts val="4208"/>
              </a:lnSpc>
            </a:pPr>
            <a:r>
              <a:rPr lang="en-US" sz="300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Prefer:  </a:t>
            </a:r>
          </a:p>
          <a:p>
            <a:pPr algn="l" marL="648963" indent="-324482" lvl="1">
              <a:lnSpc>
                <a:spcPts val="4208"/>
              </a:lnSpc>
              <a:buFont typeface="Arial"/>
              <a:buChar char="•"/>
            </a:pPr>
            <a:r>
              <a:rPr lang="en-US" sz="300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Hands-on work</a:t>
            </a:r>
          </a:p>
          <a:p>
            <a:pPr algn="l" marL="648963" indent="-324482" lvl="1">
              <a:lnSpc>
                <a:spcPts val="4208"/>
              </a:lnSpc>
              <a:buFont typeface="Arial"/>
              <a:buChar char="•"/>
            </a:pPr>
            <a:r>
              <a:rPr lang="en-US" sz="300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Working with tools, machines, or equipment</a:t>
            </a:r>
          </a:p>
          <a:p>
            <a:pPr algn="l" marL="648963" indent="-324482" lvl="1">
              <a:lnSpc>
                <a:spcPts val="4208"/>
              </a:lnSpc>
              <a:buFont typeface="Arial"/>
              <a:buChar char="•"/>
            </a:pPr>
            <a:r>
              <a:rPr lang="en-US" sz="300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Practical tasks</a:t>
            </a:r>
          </a:p>
          <a:p>
            <a:pPr algn="l">
              <a:lnSpc>
                <a:spcPts val="4208"/>
              </a:lnSpc>
            </a:pPr>
          </a:p>
          <a:p>
            <a:pPr algn="l">
              <a:lnSpc>
                <a:spcPts val="4208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515213" y="5874781"/>
            <a:ext cx="3488175" cy="4820342"/>
          </a:xfrm>
          <a:custGeom>
            <a:avLst/>
            <a:gdLst/>
            <a:ahLst/>
            <a:cxnLst/>
            <a:rect r="r" b="b" t="t" l="l"/>
            <a:pathLst>
              <a:path h="4820342" w="3488175">
                <a:moveTo>
                  <a:pt x="0" y="0"/>
                </a:moveTo>
                <a:lnTo>
                  <a:pt x="3488174" y="0"/>
                </a:lnTo>
                <a:lnTo>
                  <a:pt x="3488174" y="4820342"/>
                </a:lnTo>
                <a:lnTo>
                  <a:pt x="0" y="48203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931296" y="6384536"/>
            <a:ext cx="1289858" cy="3284361"/>
          </a:xfrm>
          <a:custGeom>
            <a:avLst/>
            <a:gdLst/>
            <a:ahLst/>
            <a:cxnLst/>
            <a:rect r="r" b="b" t="t" l="l"/>
            <a:pathLst>
              <a:path h="3284361" w="1289858">
                <a:moveTo>
                  <a:pt x="0" y="0"/>
                </a:moveTo>
                <a:lnTo>
                  <a:pt x="1289858" y="0"/>
                </a:lnTo>
                <a:lnTo>
                  <a:pt x="1289858" y="3284360"/>
                </a:lnTo>
                <a:lnTo>
                  <a:pt x="0" y="32843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317473" y="5160752"/>
            <a:ext cx="2312359" cy="3762714"/>
          </a:xfrm>
          <a:custGeom>
            <a:avLst/>
            <a:gdLst/>
            <a:ahLst/>
            <a:cxnLst/>
            <a:rect r="r" b="b" t="t" l="l"/>
            <a:pathLst>
              <a:path h="3762714" w="2312359">
                <a:moveTo>
                  <a:pt x="2312359" y="0"/>
                </a:moveTo>
                <a:lnTo>
                  <a:pt x="0" y="0"/>
                </a:lnTo>
                <a:lnTo>
                  <a:pt x="0" y="3762714"/>
                </a:lnTo>
                <a:lnTo>
                  <a:pt x="2312359" y="3762714"/>
                </a:lnTo>
                <a:lnTo>
                  <a:pt x="2312359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2933060" y="3274432"/>
            <a:ext cx="1056347" cy="2665096"/>
          </a:xfrm>
          <a:custGeom>
            <a:avLst/>
            <a:gdLst/>
            <a:ahLst/>
            <a:cxnLst/>
            <a:rect r="r" b="b" t="t" l="l"/>
            <a:pathLst>
              <a:path h="2665096" w="1056347">
                <a:moveTo>
                  <a:pt x="1056347" y="0"/>
                </a:moveTo>
                <a:lnTo>
                  <a:pt x="0" y="0"/>
                </a:lnTo>
                <a:lnTo>
                  <a:pt x="0" y="2665096"/>
                </a:lnTo>
                <a:lnTo>
                  <a:pt x="1056347" y="2665096"/>
                </a:lnTo>
                <a:lnTo>
                  <a:pt x="1056347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0954" y="618104"/>
            <a:ext cx="17166093" cy="9050793"/>
            <a:chOff x="0" y="0"/>
            <a:chExt cx="22888123" cy="120677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67723" cy="12067723"/>
            </a:xfrm>
            <a:custGeom>
              <a:avLst/>
              <a:gdLst/>
              <a:ahLst/>
              <a:cxnLst/>
              <a:rect r="r" b="b" t="t" l="l"/>
              <a:pathLst>
                <a:path h="12067723" w="12067723">
                  <a:moveTo>
                    <a:pt x="0" y="0"/>
                  </a:moveTo>
                  <a:lnTo>
                    <a:pt x="12067723" y="0"/>
                  </a:lnTo>
                  <a:lnTo>
                    <a:pt x="12067723" y="12067723"/>
                  </a:lnTo>
                  <a:lnTo>
                    <a:pt x="0" y="12067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0820400" y="0"/>
              <a:ext cx="12067723" cy="12067723"/>
            </a:xfrm>
            <a:custGeom>
              <a:avLst/>
              <a:gdLst/>
              <a:ahLst/>
              <a:cxnLst/>
              <a:rect r="r" b="b" t="t" l="l"/>
              <a:pathLst>
                <a:path h="12067723" w="12067723">
                  <a:moveTo>
                    <a:pt x="0" y="0"/>
                  </a:moveTo>
                  <a:lnTo>
                    <a:pt x="12067723" y="0"/>
                  </a:lnTo>
                  <a:lnTo>
                    <a:pt x="12067723" y="12067723"/>
                  </a:lnTo>
                  <a:lnTo>
                    <a:pt x="0" y="12067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856537" y="3274432"/>
            <a:ext cx="11414599" cy="5649034"/>
            <a:chOff x="0" y="0"/>
            <a:chExt cx="3006314" cy="14878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06314" cy="1487811"/>
            </a:xfrm>
            <a:custGeom>
              <a:avLst/>
              <a:gdLst/>
              <a:ahLst/>
              <a:cxnLst/>
              <a:rect r="r" b="b" t="t" l="l"/>
              <a:pathLst>
                <a:path h="1487811" w="3006314">
                  <a:moveTo>
                    <a:pt x="42051" y="0"/>
                  </a:moveTo>
                  <a:lnTo>
                    <a:pt x="2964263" y="0"/>
                  </a:lnTo>
                  <a:cubicBezTo>
                    <a:pt x="2975415" y="0"/>
                    <a:pt x="2986112" y="4430"/>
                    <a:pt x="2993998" y="12317"/>
                  </a:cubicBezTo>
                  <a:cubicBezTo>
                    <a:pt x="3001884" y="20203"/>
                    <a:pt x="3006314" y="30899"/>
                    <a:pt x="3006314" y="42051"/>
                  </a:cubicBezTo>
                  <a:lnTo>
                    <a:pt x="3006314" y="1445760"/>
                  </a:lnTo>
                  <a:cubicBezTo>
                    <a:pt x="3006314" y="1456913"/>
                    <a:pt x="3001884" y="1467609"/>
                    <a:pt x="2993998" y="1475495"/>
                  </a:cubicBezTo>
                  <a:cubicBezTo>
                    <a:pt x="2986112" y="1483381"/>
                    <a:pt x="2975415" y="1487811"/>
                    <a:pt x="2964263" y="1487811"/>
                  </a:cubicBezTo>
                  <a:lnTo>
                    <a:pt x="42051" y="1487811"/>
                  </a:lnTo>
                  <a:cubicBezTo>
                    <a:pt x="18827" y="1487811"/>
                    <a:pt x="0" y="1468984"/>
                    <a:pt x="0" y="1445760"/>
                  </a:cubicBezTo>
                  <a:lnTo>
                    <a:pt x="0" y="42051"/>
                  </a:lnTo>
                  <a:cubicBezTo>
                    <a:pt x="0" y="18827"/>
                    <a:pt x="18827" y="0"/>
                    <a:pt x="42051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1C174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006314" cy="1525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true" rot="0">
            <a:off x="202800" y="-1028700"/>
            <a:ext cx="4854063" cy="3627309"/>
          </a:xfrm>
          <a:custGeom>
            <a:avLst/>
            <a:gdLst/>
            <a:ahLst/>
            <a:cxnLst/>
            <a:rect r="r" b="b" t="t" l="l"/>
            <a:pathLst>
              <a:path h="3627309" w="4854063">
                <a:moveTo>
                  <a:pt x="0" y="3627309"/>
                </a:moveTo>
                <a:lnTo>
                  <a:pt x="4854063" y="3627309"/>
                </a:lnTo>
                <a:lnTo>
                  <a:pt x="4854063" y="0"/>
                </a:lnTo>
                <a:lnTo>
                  <a:pt x="0" y="0"/>
                </a:lnTo>
                <a:lnTo>
                  <a:pt x="0" y="362730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629832" y="1290057"/>
            <a:ext cx="9832054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49"/>
              </a:lnSpc>
            </a:pPr>
            <a:r>
              <a:rPr lang="en-US" sz="8499" b="true">
                <a:solidFill>
                  <a:srgbClr val="000000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CONVENTIONAL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67180" y="3389130"/>
            <a:ext cx="10193313" cy="586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8"/>
              </a:lnSpc>
            </a:pPr>
            <a:r>
              <a:rPr lang="en-US" sz="300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Character: </a:t>
            </a:r>
          </a:p>
          <a:p>
            <a:pPr algn="l" marL="648963" indent="-324482" lvl="1">
              <a:lnSpc>
                <a:spcPts val="4208"/>
              </a:lnSpc>
              <a:buFont typeface="Arial"/>
              <a:buChar char="•"/>
            </a:pPr>
            <a:r>
              <a:rPr lang="en-US" sz="300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Organized</a:t>
            </a:r>
          </a:p>
          <a:p>
            <a:pPr algn="l" marL="648963" indent="-324482" lvl="1">
              <a:lnSpc>
                <a:spcPts val="4208"/>
              </a:lnSpc>
              <a:buFont typeface="Arial"/>
              <a:buChar char="•"/>
            </a:pPr>
            <a:r>
              <a:rPr lang="en-US" sz="300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Detail-oriented</a:t>
            </a:r>
          </a:p>
          <a:p>
            <a:pPr algn="l" marL="648963" indent="-324482" lvl="1">
              <a:lnSpc>
                <a:spcPts val="4208"/>
              </a:lnSpc>
              <a:buFont typeface="Arial"/>
              <a:buChar char="•"/>
            </a:pPr>
            <a:r>
              <a:rPr lang="en-US" sz="300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Dependable</a:t>
            </a:r>
          </a:p>
          <a:p>
            <a:pPr algn="l">
              <a:lnSpc>
                <a:spcPts val="4208"/>
              </a:lnSpc>
            </a:pPr>
          </a:p>
          <a:p>
            <a:pPr algn="l">
              <a:lnSpc>
                <a:spcPts val="4208"/>
              </a:lnSpc>
            </a:pPr>
            <a:r>
              <a:rPr lang="en-US" sz="300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Prefer:  </a:t>
            </a:r>
          </a:p>
          <a:p>
            <a:pPr algn="l" marL="648963" indent="-324482" lvl="1">
              <a:lnSpc>
                <a:spcPts val="4208"/>
              </a:lnSpc>
              <a:buFont typeface="Arial"/>
              <a:buChar char="•"/>
            </a:pPr>
            <a:r>
              <a:rPr lang="en-US" sz="300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Accuracy and order in daily work</a:t>
            </a:r>
          </a:p>
          <a:p>
            <a:pPr algn="l" marL="648963" indent="-324482" lvl="1">
              <a:lnSpc>
                <a:spcPts val="4208"/>
              </a:lnSpc>
              <a:buFont typeface="Arial"/>
              <a:buChar char="•"/>
            </a:pPr>
            <a:r>
              <a:rPr lang="en-US" sz="300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Routine tasks with predictable outcomes</a:t>
            </a:r>
          </a:p>
          <a:p>
            <a:pPr algn="l">
              <a:lnSpc>
                <a:spcPts val="4208"/>
              </a:lnSpc>
            </a:pPr>
          </a:p>
          <a:p>
            <a:pPr algn="l">
              <a:lnSpc>
                <a:spcPts val="4208"/>
              </a:lnSpc>
            </a:pPr>
          </a:p>
          <a:p>
            <a:pPr algn="l">
              <a:lnSpc>
                <a:spcPts val="4208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515213" y="5874781"/>
            <a:ext cx="3488175" cy="4820342"/>
          </a:xfrm>
          <a:custGeom>
            <a:avLst/>
            <a:gdLst/>
            <a:ahLst/>
            <a:cxnLst/>
            <a:rect r="r" b="b" t="t" l="l"/>
            <a:pathLst>
              <a:path h="4820342" w="3488175">
                <a:moveTo>
                  <a:pt x="0" y="0"/>
                </a:moveTo>
                <a:lnTo>
                  <a:pt x="3488174" y="0"/>
                </a:lnTo>
                <a:lnTo>
                  <a:pt x="3488174" y="4820342"/>
                </a:lnTo>
                <a:lnTo>
                  <a:pt x="0" y="48203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482855" y="6500648"/>
            <a:ext cx="2106982" cy="3002177"/>
          </a:xfrm>
          <a:custGeom>
            <a:avLst/>
            <a:gdLst/>
            <a:ahLst/>
            <a:cxnLst/>
            <a:rect r="r" b="b" t="t" l="l"/>
            <a:pathLst>
              <a:path h="3002177" w="2106982">
                <a:moveTo>
                  <a:pt x="0" y="0"/>
                </a:moveTo>
                <a:lnTo>
                  <a:pt x="2106982" y="0"/>
                </a:lnTo>
                <a:lnTo>
                  <a:pt x="2106982" y="3002177"/>
                </a:lnTo>
                <a:lnTo>
                  <a:pt x="0" y="30021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60954" y="3274432"/>
            <a:ext cx="2536032" cy="2549941"/>
          </a:xfrm>
          <a:custGeom>
            <a:avLst/>
            <a:gdLst/>
            <a:ahLst/>
            <a:cxnLst/>
            <a:rect r="r" b="b" t="t" l="l"/>
            <a:pathLst>
              <a:path h="2549941" w="2536032">
                <a:moveTo>
                  <a:pt x="0" y="0"/>
                </a:moveTo>
                <a:lnTo>
                  <a:pt x="2536032" y="0"/>
                </a:lnTo>
                <a:lnTo>
                  <a:pt x="2536032" y="2549941"/>
                </a:lnTo>
                <a:lnTo>
                  <a:pt x="0" y="254994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0954" y="618104"/>
            <a:ext cx="17166093" cy="9050793"/>
            <a:chOff x="0" y="0"/>
            <a:chExt cx="22888123" cy="120677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67723" cy="12067723"/>
            </a:xfrm>
            <a:custGeom>
              <a:avLst/>
              <a:gdLst/>
              <a:ahLst/>
              <a:cxnLst/>
              <a:rect r="r" b="b" t="t" l="l"/>
              <a:pathLst>
                <a:path h="12067723" w="12067723">
                  <a:moveTo>
                    <a:pt x="0" y="0"/>
                  </a:moveTo>
                  <a:lnTo>
                    <a:pt x="12067723" y="0"/>
                  </a:lnTo>
                  <a:lnTo>
                    <a:pt x="12067723" y="12067723"/>
                  </a:lnTo>
                  <a:lnTo>
                    <a:pt x="0" y="12067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0820400" y="0"/>
              <a:ext cx="12067723" cy="12067723"/>
            </a:xfrm>
            <a:custGeom>
              <a:avLst/>
              <a:gdLst/>
              <a:ahLst/>
              <a:cxnLst/>
              <a:rect r="r" b="b" t="t" l="l"/>
              <a:pathLst>
                <a:path h="12067723" w="12067723">
                  <a:moveTo>
                    <a:pt x="0" y="0"/>
                  </a:moveTo>
                  <a:lnTo>
                    <a:pt x="12067723" y="0"/>
                  </a:lnTo>
                  <a:lnTo>
                    <a:pt x="12067723" y="12067723"/>
                  </a:lnTo>
                  <a:lnTo>
                    <a:pt x="0" y="12067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3911759"/>
            <a:ext cx="11107368" cy="3169135"/>
            <a:chOff x="0" y="0"/>
            <a:chExt cx="2925397" cy="8346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25397" cy="834669"/>
            </a:xfrm>
            <a:custGeom>
              <a:avLst/>
              <a:gdLst/>
              <a:ahLst/>
              <a:cxnLst/>
              <a:rect r="r" b="b" t="t" l="l"/>
              <a:pathLst>
                <a:path h="834669" w="2925397">
                  <a:moveTo>
                    <a:pt x="43214" y="0"/>
                  </a:moveTo>
                  <a:lnTo>
                    <a:pt x="2882183" y="0"/>
                  </a:lnTo>
                  <a:cubicBezTo>
                    <a:pt x="2906049" y="0"/>
                    <a:pt x="2925397" y="19348"/>
                    <a:pt x="2925397" y="43214"/>
                  </a:cubicBezTo>
                  <a:lnTo>
                    <a:pt x="2925397" y="791455"/>
                  </a:lnTo>
                  <a:cubicBezTo>
                    <a:pt x="2925397" y="815322"/>
                    <a:pt x="2906049" y="834669"/>
                    <a:pt x="2882183" y="834669"/>
                  </a:cubicBezTo>
                  <a:lnTo>
                    <a:pt x="43214" y="834669"/>
                  </a:lnTo>
                  <a:cubicBezTo>
                    <a:pt x="31753" y="834669"/>
                    <a:pt x="20762" y="830116"/>
                    <a:pt x="12657" y="822012"/>
                  </a:cubicBezTo>
                  <a:cubicBezTo>
                    <a:pt x="4553" y="813908"/>
                    <a:pt x="0" y="802916"/>
                    <a:pt x="0" y="791455"/>
                  </a:cubicBezTo>
                  <a:lnTo>
                    <a:pt x="0" y="43214"/>
                  </a:lnTo>
                  <a:cubicBezTo>
                    <a:pt x="0" y="19348"/>
                    <a:pt x="19348" y="0"/>
                    <a:pt x="4321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1C174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925397" cy="872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11626" y="6525026"/>
            <a:ext cx="3219008" cy="4060675"/>
          </a:xfrm>
          <a:custGeom>
            <a:avLst/>
            <a:gdLst/>
            <a:ahLst/>
            <a:cxnLst/>
            <a:rect r="r" b="b" t="t" l="l"/>
            <a:pathLst>
              <a:path h="4060675" w="3219008">
                <a:moveTo>
                  <a:pt x="0" y="0"/>
                </a:moveTo>
                <a:lnTo>
                  <a:pt x="3219008" y="0"/>
                </a:lnTo>
                <a:lnTo>
                  <a:pt x="3219008" y="4060676"/>
                </a:lnTo>
                <a:lnTo>
                  <a:pt x="0" y="40606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623823" y="6525026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61588" y="4400951"/>
            <a:ext cx="9619187" cy="213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Likes analyzing data and solving complex problems.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Focuses on understanding why things happen.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Prefers facts and evidence over assumptions.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009650"/>
            <a:ext cx="12586049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49"/>
              </a:lnSpc>
            </a:pPr>
            <a:r>
              <a:rPr lang="en-US" sz="8499" b="true">
                <a:solidFill>
                  <a:srgbClr val="000000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INVESTIGATIVE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095758" y="2210591"/>
            <a:ext cx="6163542" cy="7047709"/>
          </a:xfrm>
          <a:custGeom>
            <a:avLst/>
            <a:gdLst/>
            <a:ahLst/>
            <a:cxnLst/>
            <a:rect r="r" b="b" t="t" l="l"/>
            <a:pathLst>
              <a:path h="7047709" w="6163542">
                <a:moveTo>
                  <a:pt x="0" y="0"/>
                </a:moveTo>
                <a:lnTo>
                  <a:pt x="6163542" y="0"/>
                </a:lnTo>
                <a:lnTo>
                  <a:pt x="6163542" y="7047709"/>
                </a:lnTo>
                <a:lnTo>
                  <a:pt x="0" y="70477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0954" y="618104"/>
            <a:ext cx="17166093" cy="9050793"/>
            <a:chOff x="0" y="0"/>
            <a:chExt cx="22888123" cy="120677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67723" cy="12067723"/>
            </a:xfrm>
            <a:custGeom>
              <a:avLst/>
              <a:gdLst/>
              <a:ahLst/>
              <a:cxnLst/>
              <a:rect r="r" b="b" t="t" l="l"/>
              <a:pathLst>
                <a:path h="12067723" w="12067723">
                  <a:moveTo>
                    <a:pt x="0" y="0"/>
                  </a:moveTo>
                  <a:lnTo>
                    <a:pt x="12067723" y="0"/>
                  </a:lnTo>
                  <a:lnTo>
                    <a:pt x="12067723" y="12067723"/>
                  </a:lnTo>
                  <a:lnTo>
                    <a:pt x="0" y="12067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0820400" y="0"/>
              <a:ext cx="12067723" cy="12067723"/>
            </a:xfrm>
            <a:custGeom>
              <a:avLst/>
              <a:gdLst/>
              <a:ahLst/>
              <a:cxnLst/>
              <a:rect r="r" b="b" t="t" l="l"/>
              <a:pathLst>
                <a:path h="12067723" w="12067723">
                  <a:moveTo>
                    <a:pt x="0" y="0"/>
                  </a:moveTo>
                  <a:lnTo>
                    <a:pt x="12067723" y="0"/>
                  </a:lnTo>
                  <a:lnTo>
                    <a:pt x="12067723" y="12067723"/>
                  </a:lnTo>
                  <a:lnTo>
                    <a:pt x="0" y="12067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2032613" y="4278309"/>
            <a:ext cx="14222775" cy="2913261"/>
            <a:chOff x="0" y="0"/>
            <a:chExt cx="3745916" cy="7672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45916" cy="767279"/>
            </a:xfrm>
            <a:custGeom>
              <a:avLst/>
              <a:gdLst/>
              <a:ahLst/>
              <a:cxnLst/>
              <a:rect r="r" b="b" t="t" l="l"/>
              <a:pathLst>
                <a:path h="767279" w="3745916">
                  <a:moveTo>
                    <a:pt x="33749" y="0"/>
                  </a:moveTo>
                  <a:lnTo>
                    <a:pt x="3712167" y="0"/>
                  </a:lnTo>
                  <a:cubicBezTo>
                    <a:pt x="3721118" y="0"/>
                    <a:pt x="3729702" y="3556"/>
                    <a:pt x="3736031" y="9885"/>
                  </a:cubicBezTo>
                  <a:cubicBezTo>
                    <a:pt x="3742360" y="16214"/>
                    <a:pt x="3745916" y="24798"/>
                    <a:pt x="3745916" y="33749"/>
                  </a:cubicBezTo>
                  <a:lnTo>
                    <a:pt x="3745916" y="733530"/>
                  </a:lnTo>
                  <a:cubicBezTo>
                    <a:pt x="3745916" y="752169"/>
                    <a:pt x="3730806" y="767279"/>
                    <a:pt x="3712167" y="767279"/>
                  </a:cubicBezTo>
                  <a:lnTo>
                    <a:pt x="33749" y="767279"/>
                  </a:lnTo>
                  <a:cubicBezTo>
                    <a:pt x="24798" y="767279"/>
                    <a:pt x="16214" y="763723"/>
                    <a:pt x="9885" y="757394"/>
                  </a:cubicBezTo>
                  <a:cubicBezTo>
                    <a:pt x="3556" y="751065"/>
                    <a:pt x="0" y="742481"/>
                    <a:pt x="0" y="733530"/>
                  </a:cubicBezTo>
                  <a:lnTo>
                    <a:pt x="0" y="33749"/>
                  </a:lnTo>
                  <a:cubicBezTo>
                    <a:pt x="0" y="24798"/>
                    <a:pt x="3556" y="16214"/>
                    <a:pt x="9885" y="9885"/>
                  </a:cubicBezTo>
                  <a:cubicBezTo>
                    <a:pt x="16214" y="3556"/>
                    <a:pt x="24798" y="0"/>
                    <a:pt x="33749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1C174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745916" cy="805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941283" y="4372865"/>
            <a:ext cx="7360098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Enjoys helping and supporting other</a:t>
            </a:r>
          </a:p>
          <a:p>
            <a:pPr algn="ctr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Works well in teams and values collaboration.s</a:t>
            </a:r>
          </a:p>
          <a:p>
            <a:pPr algn="ctr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Focuses on people and positive impact..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35095" y="1344484"/>
            <a:ext cx="13417809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49"/>
              </a:lnSpc>
            </a:pPr>
            <a:r>
              <a:rPr lang="en-US" b="true" sz="8499">
                <a:solidFill>
                  <a:srgbClr val="000000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SOCIAL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452366" y="6682951"/>
            <a:ext cx="10337933" cy="5939612"/>
          </a:xfrm>
          <a:custGeom>
            <a:avLst/>
            <a:gdLst/>
            <a:ahLst/>
            <a:cxnLst/>
            <a:rect r="r" b="b" t="t" l="l"/>
            <a:pathLst>
              <a:path h="5939612" w="10337933">
                <a:moveTo>
                  <a:pt x="0" y="0"/>
                </a:moveTo>
                <a:lnTo>
                  <a:pt x="10337932" y="0"/>
                </a:lnTo>
                <a:lnTo>
                  <a:pt x="10337932" y="5939612"/>
                </a:lnTo>
                <a:lnTo>
                  <a:pt x="0" y="59396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668846" y="591440"/>
            <a:ext cx="5180907" cy="10287000"/>
          </a:xfrm>
          <a:custGeom>
            <a:avLst/>
            <a:gdLst/>
            <a:ahLst/>
            <a:cxnLst/>
            <a:rect r="r" b="b" t="t" l="l"/>
            <a:pathLst>
              <a:path h="10287000" w="5180907">
                <a:moveTo>
                  <a:pt x="0" y="0"/>
                </a:moveTo>
                <a:lnTo>
                  <a:pt x="5180908" y="0"/>
                </a:lnTo>
                <a:lnTo>
                  <a:pt x="518090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3462123" y="1363534"/>
            <a:ext cx="7987796" cy="8289223"/>
          </a:xfrm>
          <a:custGeom>
            <a:avLst/>
            <a:gdLst/>
            <a:ahLst/>
            <a:cxnLst/>
            <a:rect r="r" b="b" t="t" l="l"/>
            <a:pathLst>
              <a:path h="8289223" w="7987796">
                <a:moveTo>
                  <a:pt x="0" y="0"/>
                </a:moveTo>
                <a:lnTo>
                  <a:pt x="7987796" y="0"/>
                </a:lnTo>
                <a:lnTo>
                  <a:pt x="7987796" y="8289223"/>
                </a:lnTo>
                <a:lnTo>
                  <a:pt x="0" y="82892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0954" y="618104"/>
            <a:ext cx="17166093" cy="9050793"/>
            <a:chOff x="0" y="0"/>
            <a:chExt cx="22888123" cy="120677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67723" cy="12067723"/>
            </a:xfrm>
            <a:custGeom>
              <a:avLst/>
              <a:gdLst/>
              <a:ahLst/>
              <a:cxnLst/>
              <a:rect r="r" b="b" t="t" l="l"/>
              <a:pathLst>
                <a:path h="12067723" w="12067723">
                  <a:moveTo>
                    <a:pt x="0" y="0"/>
                  </a:moveTo>
                  <a:lnTo>
                    <a:pt x="12067723" y="0"/>
                  </a:lnTo>
                  <a:lnTo>
                    <a:pt x="12067723" y="12067723"/>
                  </a:lnTo>
                  <a:lnTo>
                    <a:pt x="0" y="12067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0820400" y="0"/>
              <a:ext cx="12067723" cy="12067723"/>
            </a:xfrm>
            <a:custGeom>
              <a:avLst/>
              <a:gdLst/>
              <a:ahLst/>
              <a:cxnLst/>
              <a:rect r="r" b="b" t="t" l="l"/>
              <a:pathLst>
                <a:path h="12067723" w="12067723">
                  <a:moveTo>
                    <a:pt x="0" y="0"/>
                  </a:moveTo>
                  <a:lnTo>
                    <a:pt x="12067723" y="0"/>
                  </a:lnTo>
                  <a:lnTo>
                    <a:pt x="12067723" y="12067723"/>
                  </a:lnTo>
                  <a:lnTo>
                    <a:pt x="0" y="12067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49703" y="3534905"/>
            <a:ext cx="9832054" cy="5723395"/>
            <a:chOff x="0" y="0"/>
            <a:chExt cx="2589512" cy="15073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9512" cy="1507396"/>
            </a:xfrm>
            <a:custGeom>
              <a:avLst/>
              <a:gdLst/>
              <a:ahLst/>
              <a:cxnLst/>
              <a:rect r="r" b="b" t="t" l="l"/>
              <a:pathLst>
                <a:path h="1507396" w="2589512">
                  <a:moveTo>
                    <a:pt x="48820" y="0"/>
                  </a:moveTo>
                  <a:lnTo>
                    <a:pt x="2540692" y="0"/>
                  </a:lnTo>
                  <a:cubicBezTo>
                    <a:pt x="2567655" y="0"/>
                    <a:pt x="2589512" y="21857"/>
                    <a:pt x="2589512" y="48820"/>
                  </a:cubicBezTo>
                  <a:lnTo>
                    <a:pt x="2589512" y="1458576"/>
                  </a:lnTo>
                  <a:cubicBezTo>
                    <a:pt x="2589512" y="1485539"/>
                    <a:pt x="2567655" y="1507396"/>
                    <a:pt x="2540692" y="1507396"/>
                  </a:cubicBezTo>
                  <a:lnTo>
                    <a:pt x="48820" y="1507396"/>
                  </a:lnTo>
                  <a:cubicBezTo>
                    <a:pt x="21857" y="1507396"/>
                    <a:pt x="0" y="1485539"/>
                    <a:pt x="0" y="1458576"/>
                  </a:cubicBezTo>
                  <a:lnTo>
                    <a:pt x="0" y="48820"/>
                  </a:lnTo>
                  <a:cubicBezTo>
                    <a:pt x="0" y="21857"/>
                    <a:pt x="21857" y="0"/>
                    <a:pt x="4882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1C174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89512" cy="15454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429092" y="1028700"/>
            <a:ext cx="7800516" cy="11231109"/>
          </a:xfrm>
          <a:custGeom>
            <a:avLst/>
            <a:gdLst/>
            <a:ahLst/>
            <a:cxnLst/>
            <a:rect r="r" b="b" t="t" l="l"/>
            <a:pathLst>
              <a:path h="11231109" w="7800516">
                <a:moveTo>
                  <a:pt x="0" y="0"/>
                </a:moveTo>
                <a:lnTo>
                  <a:pt x="7800515" y="0"/>
                </a:lnTo>
                <a:lnTo>
                  <a:pt x="7800515" y="11231109"/>
                </a:lnTo>
                <a:lnTo>
                  <a:pt x="0" y="112311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73912" y="2023501"/>
            <a:ext cx="9832054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49"/>
              </a:lnSpc>
            </a:pPr>
            <a:r>
              <a:rPr lang="en-US" sz="8499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ENTERPRISING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3912" y="3665427"/>
            <a:ext cx="8550260" cy="639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Characteristics 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Leadership and persuasion skills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Confident and motivates others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Decision making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Career</a:t>
            </a: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Business / Sales manager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Marketing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Project Manager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Politician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784510" y="5143500"/>
            <a:ext cx="4158742" cy="5747005"/>
          </a:xfrm>
          <a:custGeom>
            <a:avLst/>
            <a:gdLst/>
            <a:ahLst/>
            <a:cxnLst/>
            <a:rect r="r" b="b" t="t" l="l"/>
            <a:pathLst>
              <a:path h="5747005" w="4158742">
                <a:moveTo>
                  <a:pt x="0" y="0"/>
                </a:moveTo>
                <a:lnTo>
                  <a:pt x="4158742" y="0"/>
                </a:lnTo>
                <a:lnTo>
                  <a:pt x="4158742" y="5747005"/>
                </a:lnTo>
                <a:lnTo>
                  <a:pt x="0" y="5747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69597" y="825900"/>
            <a:ext cx="5818765" cy="1216651"/>
          </a:xfrm>
          <a:custGeom>
            <a:avLst/>
            <a:gdLst/>
            <a:ahLst/>
            <a:cxnLst/>
            <a:rect r="r" b="b" t="t" l="l"/>
            <a:pathLst>
              <a:path h="1216651" w="5818765">
                <a:moveTo>
                  <a:pt x="0" y="0"/>
                </a:moveTo>
                <a:lnTo>
                  <a:pt x="5818765" y="0"/>
                </a:lnTo>
                <a:lnTo>
                  <a:pt x="5818765" y="1216651"/>
                </a:lnTo>
                <a:lnTo>
                  <a:pt x="0" y="12166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0954" y="618104"/>
            <a:ext cx="17166093" cy="9050793"/>
            <a:chOff x="0" y="0"/>
            <a:chExt cx="22888123" cy="120677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67723" cy="12067723"/>
            </a:xfrm>
            <a:custGeom>
              <a:avLst/>
              <a:gdLst/>
              <a:ahLst/>
              <a:cxnLst/>
              <a:rect r="r" b="b" t="t" l="l"/>
              <a:pathLst>
                <a:path h="12067723" w="12067723">
                  <a:moveTo>
                    <a:pt x="0" y="0"/>
                  </a:moveTo>
                  <a:lnTo>
                    <a:pt x="12067723" y="0"/>
                  </a:lnTo>
                  <a:lnTo>
                    <a:pt x="12067723" y="12067723"/>
                  </a:lnTo>
                  <a:lnTo>
                    <a:pt x="0" y="12067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0820400" y="0"/>
              <a:ext cx="12067723" cy="12067723"/>
            </a:xfrm>
            <a:custGeom>
              <a:avLst/>
              <a:gdLst/>
              <a:ahLst/>
              <a:cxnLst/>
              <a:rect r="r" b="b" t="t" l="l"/>
              <a:pathLst>
                <a:path h="12067723" w="12067723">
                  <a:moveTo>
                    <a:pt x="0" y="0"/>
                  </a:moveTo>
                  <a:lnTo>
                    <a:pt x="12067723" y="0"/>
                  </a:lnTo>
                  <a:lnTo>
                    <a:pt x="12067723" y="12067723"/>
                  </a:lnTo>
                  <a:lnTo>
                    <a:pt x="0" y="12067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2861971" y="3333776"/>
            <a:ext cx="12564058" cy="3121737"/>
            <a:chOff x="0" y="0"/>
            <a:chExt cx="3309052" cy="8221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09052" cy="822186"/>
            </a:xfrm>
            <a:custGeom>
              <a:avLst/>
              <a:gdLst/>
              <a:ahLst/>
              <a:cxnLst/>
              <a:rect r="r" b="b" t="t" l="l"/>
              <a:pathLst>
                <a:path h="822186" w="3309052">
                  <a:moveTo>
                    <a:pt x="38204" y="0"/>
                  </a:moveTo>
                  <a:lnTo>
                    <a:pt x="3270848" y="0"/>
                  </a:lnTo>
                  <a:cubicBezTo>
                    <a:pt x="3291948" y="0"/>
                    <a:pt x="3309052" y="17105"/>
                    <a:pt x="3309052" y="38204"/>
                  </a:cubicBezTo>
                  <a:lnTo>
                    <a:pt x="3309052" y="783982"/>
                  </a:lnTo>
                  <a:cubicBezTo>
                    <a:pt x="3309052" y="794114"/>
                    <a:pt x="3305027" y="803831"/>
                    <a:pt x="3297863" y="810996"/>
                  </a:cubicBezTo>
                  <a:cubicBezTo>
                    <a:pt x="3290698" y="818161"/>
                    <a:pt x="3280980" y="822186"/>
                    <a:pt x="3270848" y="822186"/>
                  </a:cubicBezTo>
                  <a:lnTo>
                    <a:pt x="38204" y="822186"/>
                  </a:lnTo>
                  <a:cubicBezTo>
                    <a:pt x="17105" y="822186"/>
                    <a:pt x="0" y="805081"/>
                    <a:pt x="0" y="783982"/>
                  </a:cubicBezTo>
                  <a:lnTo>
                    <a:pt x="0" y="38204"/>
                  </a:lnTo>
                  <a:cubicBezTo>
                    <a:pt x="0" y="17105"/>
                    <a:pt x="17105" y="0"/>
                    <a:pt x="3820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1C174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309052" cy="860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241" y="475135"/>
            <a:ext cx="4413727" cy="9336729"/>
          </a:xfrm>
          <a:custGeom>
            <a:avLst/>
            <a:gdLst/>
            <a:ahLst/>
            <a:cxnLst/>
            <a:rect r="r" b="b" t="t" l="l"/>
            <a:pathLst>
              <a:path h="9336729" w="4413727">
                <a:moveTo>
                  <a:pt x="0" y="0"/>
                </a:moveTo>
                <a:lnTo>
                  <a:pt x="4413726" y="0"/>
                </a:lnTo>
                <a:lnTo>
                  <a:pt x="4413726" y="9336730"/>
                </a:lnTo>
                <a:lnTo>
                  <a:pt x="0" y="93367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3636611" y="721580"/>
            <a:ext cx="4651389" cy="9336729"/>
          </a:xfrm>
          <a:custGeom>
            <a:avLst/>
            <a:gdLst/>
            <a:ahLst/>
            <a:cxnLst/>
            <a:rect r="r" b="b" t="t" l="l"/>
            <a:pathLst>
              <a:path h="9336729" w="4651389">
                <a:moveTo>
                  <a:pt x="4651389" y="0"/>
                </a:moveTo>
                <a:lnTo>
                  <a:pt x="0" y="0"/>
                </a:lnTo>
                <a:lnTo>
                  <a:pt x="0" y="9336729"/>
                </a:lnTo>
                <a:lnTo>
                  <a:pt x="4651389" y="9336729"/>
                </a:lnTo>
                <a:lnTo>
                  <a:pt x="465138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282742" y="6069757"/>
            <a:ext cx="7484853" cy="6300886"/>
          </a:xfrm>
          <a:custGeom>
            <a:avLst/>
            <a:gdLst/>
            <a:ahLst/>
            <a:cxnLst/>
            <a:rect r="r" b="b" t="t" l="l"/>
            <a:pathLst>
              <a:path h="6300886" w="7484853">
                <a:moveTo>
                  <a:pt x="0" y="0"/>
                </a:moveTo>
                <a:lnTo>
                  <a:pt x="7484854" y="0"/>
                </a:lnTo>
                <a:lnTo>
                  <a:pt x="7484854" y="6300886"/>
                </a:lnTo>
                <a:lnTo>
                  <a:pt x="0" y="63008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246742" y="3799269"/>
            <a:ext cx="11794515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Holland’s theory shows that people have different personality types , and understanding our personality helps us make better career choice and achieve higher job satisfaction.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28598" y="1439727"/>
            <a:ext cx="10830805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8499">
                <a:solidFill>
                  <a:srgbClr val="000000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CONCLUSION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0954" y="618104"/>
            <a:ext cx="17166093" cy="9050793"/>
            <a:chOff x="0" y="0"/>
            <a:chExt cx="22888123" cy="120677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67723" cy="12067723"/>
            </a:xfrm>
            <a:custGeom>
              <a:avLst/>
              <a:gdLst/>
              <a:ahLst/>
              <a:cxnLst/>
              <a:rect r="r" b="b" t="t" l="l"/>
              <a:pathLst>
                <a:path h="12067723" w="12067723">
                  <a:moveTo>
                    <a:pt x="0" y="0"/>
                  </a:moveTo>
                  <a:lnTo>
                    <a:pt x="12067723" y="0"/>
                  </a:lnTo>
                  <a:lnTo>
                    <a:pt x="12067723" y="12067723"/>
                  </a:lnTo>
                  <a:lnTo>
                    <a:pt x="0" y="12067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0820400" y="0"/>
              <a:ext cx="12067723" cy="12067723"/>
            </a:xfrm>
            <a:custGeom>
              <a:avLst/>
              <a:gdLst/>
              <a:ahLst/>
              <a:cxnLst/>
              <a:rect r="r" b="b" t="t" l="l"/>
              <a:pathLst>
                <a:path h="12067723" w="12067723">
                  <a:moveTo>
                    <a:pt x="0" y="0"/>
                  </a:moveTo>
                  <a:lnTo>
                    <a:pt x="12067723" y="0"/>
                  </a:lnTo>
                  <a:lnTo>
                    <a:pt x="12067723" y="12067723"/>
                  </a:lnTo>
                  <a:lnTo>
                    <a:pt x="0" y="12067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3343555"/>
            <a:ext cx="8115300" cy="2354042"/>
            <a:chOff x="0" y="0"/>
            <a:chExt cx="2137363" cy="6199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7363" cy="619995"/>
            </a:xfrm>
            <a:custGeom>
              <a:avLst/>
              <a:gdLst/>
              <a:ahLst/>
              <a:cxnLst/>
              <a:rect r="r" b="b" t="t" l="l"/>
              <a:pathLst>
                <a:path h="619995" w="2137363">
                  <a:moveTo>
                    <a:pt x="59147" y="0"/>
                  </a:moveTo>
                  <a:lnTo>
                    <a:pt x="2078216" y="0"/>
                  </a:lnTo>
                  <a:cubicBezTo>
                    <a:pt x="2110882" y="0"/>
                    <a:pt x="2137363" y="26481"/>
                    <a:pt x="2137363" y="59147"/>
                  </a:cubicBezTo>
                  <a:lnTo>
                    <a:pt x="2137363" y="560847"/>
                  </a:lnTo>
                  <a:cubicBezTo>
                    <a:pt x="2137363" y="593513"/>
                    <a:pt x="2110882" y="619995"/>
                    <a:pt x="2078216" y="619995"/>
                  </a:cubicBezTo>
                  <a:lnTo>
                    <a:pt x="59147" y="619995"/>
                  </a:lnTo>
                  <a:cubicBezTo>
                    <a:pt x="26481" y="619995"/>
                    <a:pt x="0" y="593513"/>
                    <a:pt x="0" y="560847"/>
                  </a:cubicBezTo>
                  <a:lnTo>
                    <a:pt x="0" y="59147"/>
                  </a:lnTo>
                  <a:cubicBezTo>
                    <a:pt x="0" y="26481"/>
                    <a:pt x="26481" y="0"/>
                    <a:pt x="591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1C174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7363" cy="658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089552" y="1028700"/>
            <a:ext cx="8169748" cy="8229600"/>
          </a:xfrm>
          <a:custGeom>
            <a:avLst/>
            <a:gdLst/>
            <a:ahLst/>
            <a:cxnLst/>
            <a:rect r="r" b="b" t="t" l="l"/>
            <a:pathLst>
              <a:path h="8229600" w="8169748">
                <a:moveTo>
                  <a:pt x="0" y="0"/>
                </a:moveTo>
                <a:lnTo>
                  <a:pt x="8169748" y="0"/>
                </a:lnTo>
                <a:lnTo>
                  <a:pt x="81697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-308766" y="5487156"/>
            <a:ext cx="7626674" cy="5283205"/>
          </a:xfrm>
          <a:custGeom>
            <a:avLst/>
            <a:gdLst/>
            <a:ahLst/>
            <a:cxnLst/>
            <a:rect r="r" b="b" t="t" l="l"/>
            <a:pathLst>
              <a:path h="5283205" w="7626674">
                <a:moveTo>
                  <a:pt x="7626674" y="0"/>
                </a:moveTo>
                <a:lnTo>
                  <a:pt x="0" y="0"/>
                </a:lnTo>
                <a:lnTo>
                  <a:pt x="0" y="5283205"/>
                </a:lnTo>
                <a:lnTo>
                  <a:pt x="7626674" y="5283205"/>
                </a:lnTo>
                <a:lnTo>
                  <a:pt x="762667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49091" y="3691901"/>
            <a:ext cx="7074518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We hope this presentation provides a brief explanation into Holland's six personality types.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439727"/>
            <a:ext cx="811530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8499">
                <a:solidFill>
                  <a:srgbClr val="000000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THANK YOU</a:t>
            </a:r>
          </a:p>
        </p:txBody>
      </p:sp>
      <p:sp>
        <p:nvSpPr>
          <p:cNvPr name="Freeform 12" id="12"/>
          <p:cNvSpPr/>
          <p:nvPr/>
        </p:nvSpPr>
        <p:spPr>
          <a:xfrm flipH="true" flipV="false" rot="0">
            <a:off x="6804981" y="5487156"/>
            <a:ext cx="4158742" cy="5747005"/>
          </a:xfrm>
          <a:custGeom>
            <a:avLst/>
            <a:gdLst/>
            <a:ahLst/>
            <a:cxnLst/>
            <a:rect r="r" b="b" t="t" l="l"/>
            <a:pathLst>
              <a:path h="5747005" w="4158742">
                <a:moveTo>
                  <a:pt x="4158742" y="0"/>
                </a:moveTo>
                <a:lnTo>
                  <a:pt x="0" y="0"/>
                </a:lnTo>
                <a:lnTo>
                  <a:pt x="0" y="5747005"/>
                </a:lnTo>
                <a:lnTo>
                  <a:pt x="4158742" y="5747005"/>
                </a:lnTo>
                <a:lnTo>
                  <a:pt x="4158742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DAG_DktIiHk</dc:identifier>
  <dcterms:modified xsi:type="dcterms:W3CDTF">2011-08-01T06:04:30Z</dcterms:modified>
  <cp:revision>1</cp:revision>
  <dc:title>Beige Illustrative Types of Workers in the Creative Field Presentation</dc:title>
</cp:coreProperties>
</file>